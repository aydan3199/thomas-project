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600" b="1">
                <a:solidFill>
                  <a:srgbClr val="FFFFFF"/>
                </a:solidFill>
                <a:latin typeface="Microsoft JhengHei"/>
              </a:defRPr>
            </a:pPr>
            <a:r>
              <a:t>Thomas 偏頭痛個案照護系統</a:t>
            </a:r>
          </a:p>
          <a:p>
            <a:pPr>
              <a:spcAft>
                <a:spcPts val="4000"/>
              </a:spcAft>
              <a:defRPr sz="2000">
                <a:solidFill>
                  <a:srgbClr val="319795"/>
                </a:solidFill>
                <a:latin typeface="Microsoft JhengHei"/>
              </a:defRPr>
            </a:pPr>
            <a:r>
              <a:t>以病人為中心的多角色雲端協作與大數據智慧照護平台</a:t>
            </a:r>
          </a:p>
          <a:p>
            <a:pPr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讓偏頭痛管理更簡單，醫療決策更精準！</a:t>
            </a:r>
            <a:br/>
            <a:r>
              <a:t>專題簡報 / 智慧醫療創新應用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319795"/>
                </a:solidFill>
                <a:latin typeface="Microsoft JhengHei"/>
              </a:defRPr>
            </a:pPr>
            <a:r>
              <a:t>THOMAS 偏頭痛個案照護系統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2B6CB0"/>
                </a:solidFill>
                <a:latin typeface="Microsoft JhengHei"/>
              </a:defRPr>
            </a:pPr>
            <a:r>
              <a:t>偏頭痛照護的「三大斷層」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Microsoft JhengHei"/>
              </a:defRPr>
            </a:pPr>
            <a:r>
              <a:t>傳統偏頭痛診療面臨記錄低效、診斷缺乏客觀依據、照護斷檔的嚴峻挑戰：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  <a:latin typeface="Microsoft JhengHei"/>
              </a:defRPr>
            </a:pPr>
            <a:r>
              <a:t>🔴 病患端：記錄低效且零散</a:t>
            </a:r>
          </a:p>
          <a:p>
            <a:pPr>
              <a:lnSpc>
                <a:spcPct val="130000"/>
              </a:lnSpc>
              <a:defRPr sz="1300">
                <a:solidFill>
                  <a:srgbClr val="2D3748"/>
                </a:solidFill>
                <a:latin typeface="Microsoft JhengHei"/>
              </a:defRPr>
            </a:pPr>
            <a:r>
              <a:t>傳統紙本頭痛日記不易攜帶，且極易遺失。病患看診時常憑模糊記憶向醫師口述發作情況，導致病情評估出現巨大誤差。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0116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  <a:latin typeface="Microsoft JhengHei"/>
              </a:defRPr>
            </a:pPr>
            <a:r>
              <a:t>🟡 臨床端：缺乏連續性客觀數據</a:t>
            </a:r>
          </a:p>
          <a:p>
            <a:pPr>
              <a:lnSpc>
                <a:spcPct val="130000"/>
              </a:lnSpc>
              <a:defRPr sz="1300">
                <a:solidFill>
                  <a:srgbClr val="2D3748"/>
                </a:solidFill>
                <a:latin typeface="Microsoft JhengHei"/>
              </a:defRPr>
            </a:pPr>
            <a:r>
              <a:t>醫師在門診的短暫時間內，難以獲取病人日常生活中的發作頻率、疼痛程度與用藥分布，影響診斷與藥物調整。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  <a:latin typeface="Microsoft JhengHei"/>
              </a:defRPr>
            </a:pPr>
            <a:r>
              <a:t>🔵 個管端：缺乏即時追蹤機制</a:t>
            </a:r>
          </a:p>
          <a:p>
            <a:pPr>
              <a:lnSpc>
                <a:spcPct val="130000"/>
              </a:lnSpc>
              <a:defRPr sz="1300">
                <a:solidFill>
                  <a:srgbClr val="2D3748"/>
                </a:solidFill>
                <a:latin typeface="Microsoft JhengHei"/>
              </a:defRPr>
            </a:pPr>
            <a:r>
              <a:t>個案管理師無法即時得知病患在出院或回家後的恶化狀況，只能被動等待病患回診，容易錯失黃金黃金干預與衛教時機。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319795"/>
                </a:solidFill>
                <a:latin typeface="Microsoft JhengHei"/>
              </a:defRPr>
            </a:pPr>
            <a:r>
              <a:t>THOMAS 偏頭痛個案照護系統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2B6CB0"/>
                </a:solidFill>
                <a:latin typeface="Microsoft JhengHei"/>
              </a:defRPr>
            </a:pPr>
            <a:r>
              <a:t>被忽視的「世界第三大流行病」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Microsoft JhengHei"/>
              </a:defRPr>
            </a:pPr>
            <a:r>
              <a:t>偏頭痛正無形中吞噬大量現代人的健康、勞動力與巨大的經濟價值：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4400" b="1">
                <a:solidFill>
                  <a:srgbClr val="319795"/>
                </a:solidFill>
                <a:latin typeface="Microsoft JhengHei"/>
              </a:defRPr>
            </a:pPr>
            <a:r>
              <a:t>200 萬 +</a:t>
            </a:r>
          </a:p>
          <a:p>
            <a:pPr>
              <a:spcAft>
                <a:spcPts val="1000"/>
              </a:spcAft>
              <a:defRPr sz="1600" b="1">
                <a:solidFill>
                  <a:srgbClr val="1A365D"/>
                </a:solidFill>
                <a:latin typeface="Microsoft JhengHei"/>
              </a:defRPr>
            </a:pPr>
            <a:r>
              <a:t>高盛行率</a:t>
            </a:r>
          </a:p>
          <a:p>
            <a:pPr>
              <a:lnSpc>
                <a:spcPct val="130000"/>
              </a:lnSpc>
              <a:defRPr sz="1300">
                <a:solidFill>
                  <a:srgbClr val="2D3748"/>
                </a:solidFill>
                <a:latin typeface="Microsoft JhengHei"/>
              </a:defRPr>
            </a:pPr>
            <a:r>
              <a:t>全台灣有超過 200 萬人正遭受偏頭痛所苦，相當於每 10 人就有 1 人發作，嚴重影響日常生活。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0116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4400" b="1">
                <a:solidFill>
                  <a:srgbClr val="319795"/>
                </a:solidFill>
                <a:latin typeface="Microsoft JhengHei"/>
              </a:defRPr>
            </a:pPr>
            <a:r>
              <a:t>NO. 2</a:t>
            </a:r>
          </a:p>
          <a:p>
            <a:pPr>
              <a:spcAft>
                <a:spcPts val="1000"/>
              </a:spcAft>
              <a:defRPr sz="1600" b="1">
                <a:solidFill>
                  <a:srgbClr val="1A365D"/>
                </a:solidFill>
                <a:latin typeface="Microsoft JhengHei"/>
              </a:defRPr>
            </a:pPr>
            <a:r>
              <a:t>高失能率</a:t>
            </a:r>
          </a:p>
          <a:p>
            <a:pPr>
              <a:lnSpc>
                <a:spcPct val="130000"/>
              </a:lnSpc>
              <a:defRPr sz="1300">
                <a:solidFill>
                  <a:srgbClr val="2D3748"/>
                </a:solidFill>
                <a:latin typeface="Microsoft JhengHei"/>
              </a:defRPr>
            </a:pPr>
            <a:r>
              <a:t>世界衛生組織 (WHO) 將偏頭痛列為「全球50歲以下失能疾病」的第二名，是高度致殘的身心折磨。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4400" b="1">
                <a:solidFill>
                  <a:srgbClr val="319795"/>
                </a:solidFill>
                <a:latin typeface="Microsoft JhengHei"/>
              </a:defRPr>
            </a:pPr>
            <a:r>
              <a:t>數百億 元</a:t>
            </a:r>
          </a:p>
          <a:p>
            <a:pPr>
              <a:spcAft>
                <a:spcPts val="1000"/>
              </a:spcAft>
              <a:defRPr sz="1600" b="1">
                <a:solidFill>
                  <a:srgbClr val="1A365D"/>
                </a:solidFill>
                <a:latin typeface="Microsoft JhengHei"/>
              </a:defRPr>
            </a:pPr>
            <a:r>
              <a:t>高經濟損失</a:t>
            </a:r>
          </a:p>
          <a:p>
            <a:pPr>
              <a:lnSpc>
                <a:spcPct val="130000"/>
              </a:lnSpc>
              <a:defRPr sz="1300">
                <a:solidFill>
                  <a:srgbClr val="2D3748"/>
                </a:solidFill>
                <a:latin typeface="Microsoft JhengHei"/>
              </a:defRPr>
            </a:pPr>
            <a:r>
              <a:t>因發作導致的請假、工作效率低下，每年在國內造成數百億台幣的生產力損失與龐大醫療資源浪費。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319795"/>
                </a:solidFill>
                <a:latin typeface="Microsoft JhengHei"/>
              </a:defRPr>
            </a:pPr>
            <a:r>
              <a:t>THOMAS 偏頭痛個案照護系統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2B6CB0"/>
                </a:solidFill>
                <a:latin typeface="Microsoft JhengHei"/>
              </a:defRPr>
            </a:pPr>
            <a:r>
              <a:t>我們的解決方案：Thomas 偏頭痛個案照護系統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1A365D"/>
                </a:solidFill>
                <a:latin typeface="Microsoft JhengHei"/>
              </a:defRPr>
            </a:pPr>
            <a:r>
              <a:t>打造全方位的智慧醫療防護網</a:t>
            </a:r>
          </a:p>
          <a:p>
            <a:pPr>
              <a:lnSpc>
                <a:spcPct val="140000"/>
              </a:lnSpc>
              <a:defRPr sz="1400">
                <a:solidFill>
                  <a:srgbClr val="2D3748"/>
                </a:solidFill>
                <a:latin typeface="Microsoft JhengHei"/>
              </a:defRPr>
            </a:pPr>
            <a:r>
              <a:t>Thomas 系統是全台首創將「病患、醫師、個案管理師」三端聯通的偏頭痛智慧照護平台。我們以科技照護生命，將點碎的健康碎片串聯成即時、精準、具連續性的醫療決策數據鏈。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B6CB0"/>
                </a:solidFill>
                <a:latin typeface="Microsoft JhengHei"/>
              </a:defRPr>
            </a:pPr>
            <a:r>
              <a:t>🟢 病人端：極簡且智能的隨手記錄</a:t>
            </a:r>
          </a:p>
          <a:p>
            <a:pPr>
              <a:lnSpc>
                <a:spcPct val="120000"/>
              </a:lnSpc>
              <a:defRPr sz="1300">
                <a:solidFill>
                  <a:srgbClr val="2D3748"/>
                </a:solidFill>
                <a:latin typeface="Microsoft JhengHei"/>
              </a:defRPr>
            </a:pPr>
            <a:r>
              <a:t>日常偏頭痛日記登錄僅需 30 秒，並整合八大專業醫學評估量表，自動統計得分。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600" b="1">
                <a:solidFill>
                  <a:srgbClr val="2B6CB0"/>
                </a:solidFill>
                <a:latin typeface="Microsoft JhengHei"/>
              </a:defRPr>
            </a:pPr>
            <a:r>
              <a:t>🟢 醫師端：即時且連續的數據看板</a:t>
            </a:r>
          </a:p>
          <a:p>
            <a:pPr>
              <a:lnSpc>
                <a:spcPct val="120000"/>
              </a:lnSpc>
              <a:defRPr sz="1300">
                <a:solidFill>
                  <a:srgbClr val="2D3748"/>
                </a:solidFill>
                <a:latin typeface="Microsoft JhengHei"/>
              </a:defRPr>
            </a:pPr>
            <a:r>
              <a:t>門診時一眼看透患者日常生活發作頻率、疼痛曲線與用藥分佈，調藥、處方精準無比。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600" b="1">
                <a:solidFill>
                  <a:srgbClr val="2B6CB0"/>
                </a:solidFill>
                <a:latin typeface="Microsoft JhengHei"/>
              </a:defRPr>
            </a:pPr>
            <a:r>
              <a:t>🟢 個管端：無縫的個案追蹤歷程</a:t>
            </a:r>
          </a:p>
          <a:p>
            <a:pPr>
              <a:lnSpc>
                <a:spcPct val="120000"/>
              </a:lnSpc>
              <a:defRPr sz="1300">
                <a:solidFill>
                  <a:srgbClr val="2D3748"/>
                </a:solidFill>
                <a:latin typeface="Microsoft JhengHei"/>
              </a:defRPr>
            </a:pPr>
            <a:r>
              <a:t>即時登記電話隨訪與衛教進度，確保出院/離院後的連續性照護不中斷。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319795"/>
                </a:solidFill>
                <a:latin typeface="Microsoft JhengHei"/>
              </a:defRPr>
            </a:pPr>
            <a:r>
              <a:t>THOMAS 偏頭痛個案照護系統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2B6CB0"/>
                </a:solidFill>
                <a:latin typeface="Microsoft JhengHei"/>
              </a:defRPr>
            </a:pPr>
            <a:r>
              <a:t>病人端功能：極簡記錄與八大臨床評估量表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1A365D"/>
                </a:solidFill>
                <a:latin typeface="Microsoft JhengHei"/>
              </a:defRPr>
            </a:pPr>
            <a:r>
              <a:t>📱 隨手填寫，自主健康管理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2D3748"/>
                </a:solidFill>
                <a:latin typeface="Microsoft JhengHei"/>
              </a:defRPr>
            </a:pPr>
            <a:r>
              <a:t>• 智慧頭痛日記：滑動即可記錄發作日期、具體時間、疼痛指數（1~10 分）及伴隨症狀。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2D3748"/>
                </a:solidFill>
                <a:latin typeface="Microsoft JhengHei"/>
              </a:defRPr>
            </a:pPr>
            <a:r>
              <a:t>• 用藥記錄追蹤：精準記錄每一次服用藥物，防止止痛藥過度使用（MOH）。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2D3748"/>
                </a:solidFill>
                <a:latin typeface="Microsoft JhengHei"/>
              </a:defRPr>
            </a:pPr>
            <a:r>
              <a:t>• 個人化日曆趨勢：以清晰的日曆標註頭痛發作日與用藥日，發作規律一目了然。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A365D"/>
                </a:solidFill>
                <a:latin typeface="Microsoft JhengHei"/>
              </a:defRPr>
            </a:pPr>
            <a:r>
              <a:t>📊 八大臨床專業醫學問卷量表</a:t>
            </a:r>
          </a:p>
          <a:p>
            <a:pPr>
              <a:lnSpc>
                <a:spcPct val="130000"/>
              </a:lnSpc>
              <a:spcAft>
                <a:spcPts val="1500"/>
              </a:spcAft>
              <a:defRPr sz="1300">
                <a:solidFill>
                  <a:srgbClr val="4A5568"/>
                </a:solidFill>
                <a:latin typeface="Microsoft JhengHei"/>
              </a:defRPr>
            </a:pPr>
            <a:r>
              <a:t>系統無縫內建了臨床偏頭痛與精神健康評估的標準醫學量表，系統自動累加評分，無須人工加總：</a:t>
            </a:r>
          </a:p>
          <a:p>
            <a:pPr>
              <a:spcAft>
                <a:spcPts val="400"/>
              </a:spcAft>
              <a:defRPr sz="1300" b="1">
                <a:solidFill>
                  <a:srgbClr val="319795"/>
                </a:solidFill>
                <a:latin typeface="Microsoft JhengHei"/>
              </a:defRPr>
            </a:pPr>
            <a:r>
              <a:t>✓ MIDAS 頭痛失能評估量表</a:t>
            </a:r>
          </a:p>
          <a:p>
            <a:pPr>
              <a:spcAft>
                <a:spcPts val="400"/>
              </a:spcAft>
              <a:defRPr sz="1300" b="1">
                <a:solidFill>
                  <a:srgbClr val="319795"/>
                </a:solidFill>
                <a:latin typeface="Microsoft JhengHei"/>
              </a:defRPr>
            </a:pPr>
            <a:r>
              <a:t>      ✓ PSQI 匹茲堡睡眠品質量表</a:t>
            </a:r>
          </a:p>
          <a:p>
            <a:pPr>
              <a:spcAft>
                <a:spcPts val="400"/>
              </a:spcAft>
              <a:defRPr sz="1300" b="1">
                <a:solidFill>
                  <a:srgbClr val="319795"/>
                </a:solidFill>
                <a:latin typeface="Microsoft JhengHei"/>
              </a:defRPr>
            </a:pPr>
            <a:r>
              <a:t>✓ HADS 醫院焦慮憂鬱量表</a:t>
            </a:r>
          </a:p>
          <a:p>
            <a:pPr>
              <a:spcAft>
                <a:spcPts val="400"/>
              </a:spcAft>
              <a:defRPr sz="1300" b="1">
                <a:solidFill>
                  <a:srgbClr val="319795"/>
                </a:solidFill>
                <a:latin typeface="Microsoft JhengHei"/>
              </a:defRPr>
            </a:pPr>
            <a:r>
              <a:t>      ✓ PSS 壓力知覺量表</a:t>
            </a:r>
          </a:p>
          <a:p>
            <a:pPr>
              <a:spcAft>
                <a:spcPts val="400"/>
              </a:spcAft>
              <a:defRPr sz="1300" b="1">
                <a:solidFill>
                  <a:srgbClr val="319795"/>
                </a:solidFill>
                <a:latin typeface="Microsoft JhengHei"/>
              </a:defRPr>
            </a:pPr>
            <a:r>
              <a:t>✓ BDI 貝克憂鬱量表</a:t>
            </a:r>
          </a:p>
          <a:p>
            <a:pPr>
              <a:spcAft>
                <a:spcPts val="400"/>
              </a:spcAft>
              <a:defRPr sz="1300" b="1">
                <a:solidFill>
                  <a:srgbClr val="319795"/>
                </a:solidFill>
                <a:latin typeface="Microsoft JhengHei"/>
              </a:defRPr>
            </a:pPr>
            <a:r>
              <a:t>      ✓ FSS 疲勞嚴重度量表</a:t>
            </a:r>
          </a:p>
          <a:p>
            <a:pPr>
              <a:spcAft>
                <a:spcPts val="400"/>
              </a:spcAft>
              <a:defRPr sz="1300" b="1">
                <a:solidFill>
                  <a:srgbClr val="319795"/>
                </a:solidFill>
                <a:latin typeface="Microsoft JhengHei"/>
              </a:defRPr>
            </a:pPr>
            <a:r>
              <a:t>✓ Allodynia 觸物痛量表</a:t>
            </a:r>
          </a:p>
          <a:p>
            <a:pPr>
              <a:spcAft>
                <a:spcPts val="400"/>
              </a:spcAft>
              <a:defRPr sz="1300" b="1">
                <a:solidFill>
                  <a:srgbClr val="319795"/>
                </a:solidFill>
                <a:latin typeface="Microsoft JhengHei"/>
              </a:defRPr>
            </a:pPr>
            <a:r>
              <a:t>      ✓ WPI 廣泛疼痛指數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319795"/>
                </a:solidFill>
                <a:latin typeface="Microsoft JhengHei"/>
              </a:defRPr>
            </a:pPr>
            <a:r>
              <a:t>THOMAS 偏頭痛個案照護系統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2B6CB0"/>
                </a:solidFill>
                <a:latin typeface="Microsoft JhengHei"/>
              </a:defRPr>
            </a:pPr>
            <a:r>
              <a:t>醫護端功能：大數據分析與個案追蹤系統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1A365D"/>
                </a:solidFill>
                <a:latin typeface="Microsoft JhengHei"/>
              </a:defRPr>
            </a:pPr>
            <a:r>
              <a:t>👨‍⚕️ 醫師大數據決策看板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Microsoft JhengHei"/>
              </a:defRPr>
            </a:pPr>
            <a:r>
              <a:t>• 病人名單管理：一鍵查閱旗下所有病人的最新頭痛日誌與用藥狀態。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Microsoft JhengHei"/>
              </a:defRPr>
            </a:pPr>
            <a:r>
              <a:t>• 發作頻率與強度折線圖：動態呈現患者疼痛的客觀變化曲線。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Microsoft JhengHei"/>
              </a:defRPr>
            </a:pPr>
            <a:r>
              <a:t>• 量表歷史分數比對：自動比對多次量表的前後得分，評估藥物療效。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2D3748"/>
                </a:solidFill>
                <a:latin typeface="Microsoft JhengHei"/>
              </a:defRPr>
            </a:pPr>
            <a:r>
              <a:t>• 處方登錄：直接於平台開立藥物並記錄，完整保存醫病用藥歷史。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1A365D"/>
                </a:solidFill>
                <a:latin typeface="Microsoft JhengHei"/>
              </a:defRPr>
            </a:pPr>
            <a:r>
              <a:t>👩‍⚕️ 個案管理師追蹤系統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300">
                <a:solidFill>
                  <a:srgbClr val="2D3748"/>
                </a:solidFill>
                <a:latin typeface="Microsoft JhengHei"/>
              </a:defRPr>
            </a:pPr>
            <a:r>
              <a:t>• 個案追蹤歷程：詳細登錄每一次電話隨訪、回診通知與衛教訪談內容。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300">
                <a:solidFill>
                  <a:srgbClr val="2D3748"/>
                </a:solidFill>
                <a:latin typeface="Microsoft JhengHei"/>
              </a:defRPr>
            </a:pPr>
            <a:r>
              <a:t>• 連續性照護備忘錄：打造高彈性追蹤歷程記錄，資訊完整交接不漏接。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300">
                <a:solidFill>
                  <a:srgbClr val="2D3748"/>
                </a:solidFill>
                <a:latin typeface="Microsoft JhengHei"/>
              </a:defRPr>
            </a:pPr>
            <a:r>
              <a:t>• 醫病溝通橋樑：連結病人的日常自填紀錄，讓个管師在追蹤時具備最精準的對話背景。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319795"/>
                </a:solidFill>
                <a:latin typeface="Microsoft JhengHei"/>
              </a:defRPr>
            </a:pPr>
            <a:r>
              <a:t>THOMAS 偏頭痛個案照護系統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2B6CB0"/>
                </a:solidFill>
                <a:latin typeface="Microsoft JhengHei"/>
              </a:defRPr>
            </a:pPr>
            <a:r>
              <a:t>技術架構與雲端自動化部署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Microsoft JhengHei"/>
              </a:defRPr>
            </a:pPr>
            <a:r>
              <a:t>採用現代化前後端分離架構，實現跨平台高速響應與極致安全性：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365D"/>
                </a:solidFill>
                <a:latin typeface="Microsoft JhengHei"/>
              </a:defRPr>
            </a:pPr>
            <a:r>
              <a:t>🎨 前端前端 (Frontend)</a:t>
            </a:r>
          </a:p>
          <a:p>
            <a:pPr>
              <a:spcAft>
                <a:spcPts val="1000"/>
              </a:spcAft>
              <a:defRPr sz="1300" b="1">
                <a:solidFill>
                  <a:srgbClr val="319795"/>
                </a:solidFill>
                <a:latin typeface="Microsoft JhengHei"/>
              </a:defRPr>
            </a:pPr>
            <a:r>
              <a:t>React + TypeScript + Vite</a:t>
            </a:r>
          </a:p>
          <a:p>
            <a:pPr>
              <a:lnSpc>
                <a:spcPct val="130000"/>
              </a:lnSpc>
              <a:defRPr sz="1200">
                <a:solidFill>
                  <a:srgbClr val="2D3748"/>
                </a:solidFill>
                <a:latin typeface="Microsoft JhengHei"/>
              </a:defRPr>
            </a:pPr>
            <a:r>
              <a:t>採用主流前端框架與強型別開發，元件高度可重用。Vite 提供極速建置，並動態偵測後端 API 位置。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01168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365D"/>
                </a:solidFill>
                <a:latin typeface="Microsoft JhengHei"/>
              </a:defRPr>
            </a:pPr>
            <a:r>
              <a:t>⚙️ 後端後端 (Backend)</a:t>
            </a:r>
          </a:p>
          <a:p>
            <a:pPr>
              <a:spcAft>
                <a:spcPts val="1000"/>
              </a:spcAft>
              <a:defRPr sz="1300" b="1">
                <a:solidFill>
                  <a:srgbClr val="319795"/>
                </a:solidFill>
                <a:latin typeface="Microsoft JhengHei"/>
              </a:defRPr>
            </a:pPr>
            <a:r>
              <a:t>Spring Boot + JPA (Hibernate)</a:t>
            </a:r>
          </a:p>
          <a:p>
            <a:pPr>
              <a:lnSpc>
                <a:spcPct val="130000"/>
              </a:lnSpc>
              <a:defRPr sz="1200">
                <a:solidFill>
                  <a:srgbClr val="2D3748"/>
                </a:solidFill>
                <a:latin typeface="Microsoft JhengHei"/>
              </a:defRPr>
            </a:pPr>
            <a:r>
              <a:t>採用 Java 21 企業級架構，JPA 自動更新 Supabase 關聯式表格結構，代碼高度模組化且安全。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365D"/>
                </a:solidFill>
                <a:latin typeface="Microsoft JhengHei"/>
              </a:defRPr>
            </a:pPr>
            <a:r>
              <a:t>🗄️ 資料庫 (Database)</a:t>
            </a:r>
          </a:p>
          <a:p>
            <a:pPr>
              <a:spcAft>
                <a:spcPts val="1000"/>
              </a:spcAft>
              <a:defRPr sz="1300" b="1">
                <a:solidFill>
                  <a:srgbClr val="319795"/>
                </a:solidFill>
                <a:latin typeface="Microsoft JhengHei"/>
              </a:defRPr>
            </a:pPr>
            <a:r>
              <a:t>Supabase (PostgreSQL)</a:t>
            </a:r>
          </a:p>
          <a:p>
            <a:pPr>
              <a:lnSpc>
                <a:spcPct val="130000"/>
              </a:lnSpc>
              <a:defRPr sz="1200">
                <a:solidFill>
                  <a:srgbClr val="2D3748"/>
                </a:solidFill>
                <a:latin typeface="Microsoft JhengHei"/>
              </a:defRPr>
            </a:pPr>
            <a:r>
              <a:t>新加坡雲端叢集資料庫。設定 Session Pooler (連接埠 5432) 通過 IPv4 代理連線，安全穩定。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01168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365D"/>
                </a:solidFill>
                <a:latin typeface="Microsoft JhengHei"/>
              </a:defRPr>
            </a:pPr>
            <a:r>
              <a:t>☁️ 雲端部署 (Deployment)</a:t>
            </a:r>
          </a:p>
          <a:p>
            <a:pPr>
              <a:spcAft>
                <a:spcPts val="1000"/>
              </a:spcAft>
              <a:defRPr sz="1300" b="1">
                <a:solidFill>
                  <a:srgbClr val="319795"/>
                </a:solidFill>
                <a:latin typeface="Microsoft JhengHei"/>
              </a:defRPr>
            </a:pPr>
            <a:r>
              <a:t>Vercel + Render (Docker)</a:t>
            </a:r>
          </a:p>
          <a:p>
            <a:pPr>
              <a:lnSpc>
                <a:spcPct val="130000"/>
              </a:lnSpc>
              <a:defRPr sz="1200">
                <a:solidFill>
                  <a:srgbClr val="2D3748"/>
                </a:solidFill>
                <a:latin typeface="Microsoft JhengHei"/>
              </a:defRPr>
            </a:pPr>
            <a:r>
              <a:t>前端一鍵託管 Vercel 享全球極速載入；後端包裝 Docker 容器自動化部署於 Render，GitHub 推送即時自動更新。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319795"/>
                </a:solidFill>
                <a:latin typeface="Microsoft JhengHei"/>
              </a:defRPr>
            </a:pPr>
            <a:r>
              <a:t>THOMAS 偏頭痛個案照護系統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2B6CB0"/>
                </a:solidFill>
                <a:latin typeface="Microsoft JhengHei"/>
              </a:defRPr>
            </a:pPr>
            <a:r>
              <a:t>專案優勢與核心競爭力對比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2286000"/>
                <a:gridCol w="320040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特性比較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傳統紙本日記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市售一般記錄 App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Thomas 偏頭痛照護系統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D3748"/>
                          </a:solidFill>
                          <a:latin typeface="Microsoft JhengHei"/>
                        </a:defRPr>
                      </a:pPr>
                      <a:r>
                        <a:t>資料雲端同步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D3748"/>
                          </a:solidFill>
                          <a:latin typeface="Microsoft JhengHei"/>
                        </a:defRPr>
                      </a:pPr>
                      <a:r>
                        <a:t>❌ 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D3748"/>
                          </a:solidFill>
                          <a:latin typeface="Microsoft JhengHei"/>
                        </a:defRPr>
                      </a:pPr>
                      <a:r>
                        <a:t>❌ 僅本機儲存，易遺失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B6CB0"/>
                          </a:solidFill>
                          <a:latin typeface="Microsoft JhengHei"/>
                        </a:defRPr>
                      </a:pPr>
                      <a:r>
                        <a:t>🟢 雲端即時同步 (Supabase)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D3748"/>
                          </a:solidFill>
                          <a:latin typeface="Microsoft JhengHei"/>
                        </a:defRPr>
                      </a:pPr>
                      <a:r>
                        <a:t>醫病即時查閱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D3748"/>
                          </a:solidFill>
                          <a:latin typeface="Microsoft JhengHei"/>
                        </a:defRPr>
                      </a:pPr>
                      <a:r>
                        <a:t>❌ 回診手動翻看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D3748"/>
                          </a:solidFill>
                          <a:latin typeface="Microsoft JhengHei"/>
                        </a:defRPr>
                      </a:pPr>
                      <a:r>
                        <a:t>❌ 無法與醫療端共享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B6CB0"/>
                          </a:solidFill>
                          <a:latin typeface="Microsoft JhengHei"/>
                        </a:defRPr>
                      </a:pPr>
                      <a:r>
                        <a:t>🟢 專屬醫護後台，即時分析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D3748"/>
                          </a:solidFill>
                          <a:latin typeface="Microsoft JhengHei"/>
                        </a:defRPr>
                      </a:pPr>
                      <a:r>
                        <a:t>多角色協同照護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D3748"/>
                          </a:solidFill>
                          <a:latin typeface="Microsoft JhengHei"/>
                        </a:defRPr>
                      </a:pPr>
                      <a:r>
                        <a:t>❌ 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D3748"/>
                          </a:solidFill>
                          <a:latin typeface="Microsoft JhengHei"/>
                        </a:defRPr>
                      </a:pPr>
                      <a:r>
                        <a:t>❌ 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B6CB0"/>
                          </a:solidFill>
                          <a:latin typeface="Microsoft JhengHei"/>
                        </a:defRPr>
                      </a:pPr>
                      <a:r>
                        <a:t>🟢 病患 + 醫師 + 個管師三方聯動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D3748"/>
                          </a:solidFill>
                          <a:latin typeface="Microsoft JhengHei"/>
                        </a:defRPr>
                      </a:pPr>
                      <a:r>
                        <a:t>臨床專業量表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D3748"/>
                          </a:solidFill>
                          <a:latin typeface="Microsoft JhengHei"/>
                        </a:defRPr>
                      </a:pPr>
                      <a:r>
                        <a:t>❌ 手動計算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D3748"/>
                          </a:solidFill>
                          <a:latin typeface="Microsoft JhengHei"/>
                        </a:defRPr>
                      </a:pPr>
                      <a:r>
                        <a:t>❌ 無或功能單一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B6CB0"/>
                          </a:solidFill>
                          <a:latin typeface="Microsoft JhengHei"/>
                        </a:defRPr>
                      </a:pPr>
                      <a:r>
                        <a:t>🟢 內建八大醫學量表，自動計分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319795"/>
                </a:solidFill>
                <a:latin typeface="Microsoft JhengHei"/>
              </a:defRPr>
            </a:pPr>
            <a:r>
              <a:t>THOMAS 偏頭痛個案照護系統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2B6CB0"/>
                </a:solidFill>
                <a:latin typeface="Microsoft JhengHei"/>
              </a:defRPr>
            </a:pPr>
            <a:r>
              <a:t>資訊安全與醫療級隱私保護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1A365D"/>
                </a:solidFill>
                <a:latin typeface="Microsoft JhengHei"/>
              </a:defRPr>
            </a:pPr>
            <a:r>
              <a:t>🔒 我們視病患隱私為最高原則</a:t>
            </a:r>
          </a:p>
          <a:p>
            <a:pPr>
              <a:lnSpc>
                <a:spcPct val="140000"/>
              </a:lnSpc>
              <a:defRPr sz="1400">
                <a:solidFill>
                  <a:srgbClr val="2D3748"/>
                </a:solidFill>
                <a:latin typeface="Microsoft JhengHei"/>
              </a:defRPr>
            </a:pPr>
            <a:r>
              <a:t>Thomas 系統在軟體生命週期設計之初，即將「隱私與安全」寫入底層架構。為保障敏感的臨床發作數據與患者個人隱私，我們採取了多項符合業界標準的安全機制。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B6CB0"/>
                </a:solidFill>
                <a:latin typeface="Microsoft JhengHei"/>
              </a:defRPr>
            </a:pPr>
            <a:r>
              <a:t>🔐 全站 HTTPS 高強度傳輸加密</a:t>
            </a:r>
          </a:p>
          <a:p>
            <a:pPr>
              <a:lnSpc>
                <a:spcPct val="120000"/>
              </a:lnSpc>
              <a:defRPr sz="1250">
                <a:solidFill>
                  <a:srgbClr val="4A5568"/>
                </a:solidFill>
                <a:latin typeface="Microsoft JhengHei"/>
              </a:defRPr>
            </a:pPr>
            <a:r>
              <a:t>前端與後端伺服器的所有資料傳輸，均透過 HTTPS (TLS 1.3) 高強度加密管道進行，徹底杜絕封包竊聽與中間人攻擊。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 b="1">
                <a:solidFill>
                  <a:srgbClr val="2B6CB0"/>
                </a:solidFill>
                <a:latin typeface="Microsoft JhengHei"/>
              </a:defRPr>
            </a:pPr>
            <a:r>
              <a:t>🆔 資料庫 UUID 去識別化設計</a:t>
            </a:r>
          </a:p>
          <a:p>
            <a:pPr>
              <a:lnSpc>
                <a:spcPct val="120000"/>
              </a:lnSpc>
              <a:defRPr sz="1250">
                <a:solidFill>
                  <a:srgbClr val="4A5568"/>
                </a:solidFill>
                <a:latin typeface="Microsoft JhengHei"/>
              </a:defRPr>
            </a:pPr>
            <a:r>
              <a:t>資料庫主鍵不採用遞增 ID，全面改用 UUID (Universally Unique Identifier)。即便資料遭外洩，第三方也無法進行關聯性猜測與惡意掃描。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 b="1">
                <a:solidFill>
                  <a:srgbClr val="2B6CB0"/>
                </a:solidFill>
                <a:latin typeface="Microsoft JhengHei"/>
              </a:defRPr>
            </a:pPr>
            <a:r>
              <a:t>🛡️ 嚴格的角色基礎存取控制 (RBAC)</a:t>
            </a:r>
          </a:p>
          <a:p>
            <a:pPr>
              <a:lnSpc>
                <a:spcPct val="120000"/>
              </a:lnSpc>
              <a:defRPr sz="1250">
                <a:solidFill>
                  <a:srgbClr val="4A5568"/>
                </a:solidFill>
                <a:latin typeface="Microsoft JhengHei"/>
              </a:defRPr>
            </a:pPr>
            <a:r>
              <a:t>醫師僅能查看旗下配對病患的隱私記錄；個案管理師僅具備追蹤表單寫入權限；權限嚴格分離，保護個人隱私。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319795"/>
                </a:solidFill>
                <a:latin typeface="Microsoft JhengHei"/>
              </a:defRPr>
            </a:pPr>
            <a:r>
              <a:t>THOMAS 偏頭痛個案照護系統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2B6CB0"/>
                </a:solidFill>
                <a:latin typeface="Microsoft JhengHei"/>
              </a:defRPr>
            </a:pPr>
            <a:r>
              <a:t>未來展望與發展路線圖 (Roadmap)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Microsoft JhengHei"/>
              </a:defRPr>
            </a:pPr>
            <a:r>
              <a:t>未來，我們將從「被動日記記錄」轉型為「主動智慧干預與生態融合」：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319795"/>
                </a:solidFill>
                <a:latin typeface="Microsoft JhengHei"/>
              </a:defRPr>
            </a:pPr>
            <a:r>
              <a:t>🔮 Phase 1</a:t>
            </a:r>
          </a:p>
          <a:p>
            <a:pPr>
              <a:spcAft>
                <a:spcPts val="1000"/>
              </a:spcAft>
              <a:defRPr sz="1600" b="1">
                <a:solidFill>
                  <a:srgbClr val="1A365D"/>
                </a:solidFill>
                <a:latin typeface="Microsoft JhengHei"/>
              </a:defRPr>
            </a:pPr>
            <a:r>
              <a:t>AI 偏頭痛發作預測</a:t>
            </a:r>
          </a:p>
          <a:p>
            <a:pPr>
              <a:lnSpc>
                <a:spcPct val="130000"/>
              </a:lnSpc>
              <a:defRPr sz="1250">
                <a:solidFill>
                  <a:srgbClr val="2D3748"/>
                </a:solidFill>
                <a:latin typeface="Microsoft JhengHei"/>
              </a:defRPr>
            </a:pPr>
            <a:r>
              <a:t>引入機器學習 (ML) 技術，分析患者的發作歷程、睡眠品質、壓力指數與即時天氣氣壓變化，提前 24 小時發布頭痛警告，引導病患預防性服藥。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0116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319795"/>
                </a:solidFill>
                <a:latin typeface="Microsoft JhengHei"/>
              </a:defRPr>
            </a:pPr>
            <a:r>
              <a:t>⌚ Phase 2</a:t>
            </a:r>
          </a:p>
          <a:p>
            <a:pPr>
              <a:spcAft>
                <a:spcPts val="1000"/>
              </a:spcAft>
              <a:defRPr sz="1600" b="1">
                <a:solidFill>
                  <a:srgbClr val="1A365D"/>
                </a:solidFill>
                <a:latin typeface="Microsoft JhengHei"/>
              </a:defRPr>
            </a:pPr>
            <a:r>
              <a:t>智慧穿戴式裝置串接</a:t>
            </a:r>
          </a:p>
          <a:p>
            <a:pPr>
              <a:lnSpc>
                <a:spcPct val="130000"/>
              </a:lnSpc>
              <a:defRPr sz="1250">
                <a:solidFill>
                  <a:srgbClr val="2D3748"/>
                </a:solidFill>
                <a:latin typeface="Microsoft JhengHei"/>
              </a:defRPr>
            </a:pPr>
            <a:r>
              <a:t>透過 HealthKit 串接 Apple Watch, Garmin 等穿戴式載具，實時收集心率變異度 (HRV)、環境噪音、血氧與睡眠障礙指標，自動填入日記背景數據。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319795"/>
                </a:solidFill>
                <a:latin typeface="Microsoft JhengHei"/>
              </a:defRPr>
            </a:pPr>
            <a:r>
              <a:t>🏥 Phase 3</a:t>
            </a:r>
          </a:p>
          <a:p>
            <a:pPr>
              <a:spcAft>
                <a:spcPts val="1000"/>
              </a:spcAft>
              <a:defRPr sz="1600" b="1">
                <a:solidFill>
                  <a:srgbClr val="1A365D"/>
                </a:solidFill>
                <a:latin typeface="Microsoft JhengHei"/>
              </a:defRPr>
            </a:pPr>
            <a:r>
              <a:t>HIS 電子病歷系統串接</a:t>
            </a:r>
          </a:p>
          <a:p>
            <a:pPr>
              <a:lnSpc>
                <a:spcPct val="130000"/>
              </a:lnSpc>
              <a:defRPr sz="1250">
                <a:solidFill>
                  <a:srgbClr val="2D3748"/>
                </a:solidFill>
                <a:latin typeface="Microsoft JhengHei"/>
              </a:defRPr>
            </a:pPr>
            <a:r>
              <a:t>支援 HL7 / FHIR 標準醫療資料交換格式，與各大醫院的電子病歷 (EMR) 及醫療資訊系統 (HIS) 進行深度串接，真正融入醫護人員的臨床工作流。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4600" b="1">
                <a:solidFill>
                  <a:srgbClr val="FFFFFF"/>
                </a:solidFill>
                <a:latin typeface="Microsoft JhengHei"/>
              </a:defRPr>
            </a:pPr>
            <a:r>
              <a:t>簡報結束，謝謝聆聽！</a:t>
            </a:r>
          </a:p>
          <a:p>
            <a:pPr algn="ctr">
              <a:spcAft>
                <a:spcPts val="4000"/>
              </a:spcAft>
              <a:defRPr sz="2200">
                <a:solidFill>
                  <a:srgbClr val="319795"/>
                </a:solidFill>
                <a:latin typeface="Microsoft JhengHei"/>
              </a:defRPr>
            </a:pPr>
            <a:r>
              <a:t>以科技照護生命 ‧ 讓頭痛不再是痛</a:t>
            </a:r>
          </a:p>
          <a:p>
            <a:pPr algn="ctr"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👉 線上體驗網址：https://thomas-project.vercel.app</a:t>
            </a:r>
            <a:br/>
            <a:r>
              <a:t>Q &amp; A 時間 / 歡迎指導與交流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